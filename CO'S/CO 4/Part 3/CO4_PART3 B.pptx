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6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32D3C"/>
    <a:srgbClr val="6F46CD"/>
    <a:srgbClr val="EF841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1ECD601-F728-4A5A-8FE3-ACA8F5D87901}" v="1" dt="2026-08-23T10:36:02.29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7668" autoAdjust="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1080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7E144DC-54A1-A3D3-D373-5DC2780A8899}"/>
              </a:ext>
            </a:extLst>
          </p:cNvPr>
          <p:cNvSpPr txBox="1"/>
          <p:nvPr/>
        </p:nvSpPr>
        <p:spPr>
          <a:xfrm>
            <a:off x="8681663" y="5804899"/>
            <a:ext cx="58254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Name : Shaik Basheer</a:t>
            </a:r>
          </a:p>
          <a:p>
            <a:r>
              <a:rPr lang="en-IN" dirty="0"/>
              <a:t>Reg . No: 192465049</a:t>
            </a:r>
          </a:p>
        </p:txBody>
      </p:sp>
    </p:spTree>
    <p:extLst>
      <p:ext uri="{BB962C8B-B14F-4D97-AF65-F5344CB8AC3E}">
        <p14:creationId xmlns:p14="http://schemas.microsoft.com/office/powerpoint/2010/main" val="40028441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80193" y="109728"/>
            <a:ext cx="10046854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122D5A"/>
                </a:solidFill>
                <a:latin typeface="Arial"/>
              </a:defRPr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IAM &amp; GITOPS INTEGRATION FOR SECURE DEVSECOPS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971800" y="621792"/>
            <a:ext cx="6263640" cy="8229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46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2990088" y="640080"/>
            <a:ext cx="6245352" cy="310896"/>
          </a:xfrm>
          <a:prstGeom prst="roundRect">
            <a:avLst/>
          </a:prstGeom>
          <a:solidFill>
            <a:srgbClr val="246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IDENTITY &amp; IAM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90088" y="1043975"/>
            <a:ext cx="6211824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50"/>
              </a:spcAft>
              <a:defRPr sz="1000">
                <a:solidFill>
                  <a:srgbClr val="232D3C"/>
                </a:solidFill>
                <a:latin typeface="Arial"/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Identity Provider (IdP)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SSO + MFA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RBAC / Least Privilege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|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Service Accounts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3" y="1616700"/>
            <a:ext cx="2880360" cy="932688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89B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33983" y="1607748"/>
            <a:ext cx="2880360" cy="336114"/>
          </a:xfrm>
          <a:prstGeom prst="roundRect">
            <a:avLst/>
          </a:prstGeom>
          <a:solidFill>
            <a:srgbClr val="189B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6461" y="1998848"/>
            <a:ext cx="2836927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0"/>
              </a:spcAft>
              <a:defRPr sz="900">
                <a:solidFill>
                  <a:srgbClr val="232D3C"/>
                </a:solidFill>
                <a:latin typeface="Arial"/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 / Workstation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|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Identity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MFA Access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8180" y="1627632"/>
            <a:ext cx="2971800" cy="932688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46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495800" y="1599799"/>
            <a:ext cx="2964180" cy="357017"/>
          </a:xfrm>
          <a:prstGeom prst="roundRect">
            <a:avLst/>
          </a:prstGeom>
          <a:solidFill>
            <a:srgbClr val="246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 REPOSITORY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95800" y="1965846"/>
            <a:ext cx="2910840" cy="5488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0"/>
              </a:spcAft>
              <a:defRPr sz="850">
                <a:solidFill>
                  <a:srgbClr val="232D3C"/>
                </a:solidFill>
                <a:latin typeface="Arial"/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 Code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</a:t>
            </a: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IaC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YAML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|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150"/>
              </a:spcAft>
              <a:defRPr sz="850">
                <a:solidFill>
                  <a:srgbClr val="232D3C"/>
                </a:solidFill>
                <a:latin typeface="Arial"/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Branch Protection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Encrypted Secrets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2500" y="1618451"/>
            <a:ext cx="2880360" cy="932688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F4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590788" y="1630644"/>
            <a:ext cx="2862072" cy="310896"/>
          </a:xfrm>
          <a:prstGeom prst="roundRect">
            <a:avLst/>
          </a:prstGeom>
          <a:solidFill>
            <a:srgbClr val="6F46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REVIEW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06028" y="1976478"/>
            <a:ext cx="2846832" cy="5488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0"/>
              </a:spcAft>
              <a:defRPr sz="900">
                <a:solidFill>
                  <a:srgbClr val="232D3C"/>
                </a:solidFill>
                <a:latin typeface="Arial"/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Pull Request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Approval + Review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|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150"/>
              </a:spcAft>
              <a:defRPr sz="900">
                <a:solidFill>
                  <a:srgbClr val="232D3C"/>
                </a:solidFill>
                <a:latin typeface="Arial"/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Checks</a:t>
            </a:r>
          </a:p>
        </p:txBody>
      </p:sp>
      <p:cxnSp>
        <p:nvCxnSpPr>
          <p:cNvPr id="15" name="Connector 14"/>
          <p:cNvCxnSpPr>
            <a:cxnSpLocks/>
          </p:cNvCxnSpPr>
          <p:nvPr/>
        </p:nvCxnSpPr>
        <p:spPr>
          <a:xfrm>
            <a:off x="3536821" y="2065782"/>
            <a:ext cx="951359" cy="0"/>
          </a:xfrm>
          <a:prstGeom prst="line">
            <a:avLst/>
          </a:prstGeom>
          <a:ln w="19050">
            <a:solidFill>
              <a:srgbClr val="122D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>
            <a:cxnSpLocks/>
            <a:stCxn id="9" idx="3"/>
            <a:endCxn id="12" idx="1"/>
          </p:cNvCxnSpPr>
          <p:nvPr/>
        </p:nvCxnSpPr>
        <p:spPr>
          <a:xfrm flipV="1">
            <a:off x="7459980" y="2084795"/>
            <a:ext cx="1112520" cy="9181"/>
          </a:xfrm>
          <a:prstGeom prst="line">
            <a:avLst/>
          </a:prstGeom>
          <a:ln w="19050">
            <a:solidFill>
              <a:srgbClr val="122D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>
            <a:cxnSpLocks/>
          </p:cNvCxnSpPr>
          <p:nvPr/>
        </p:nvCxnSpPr>
        <p:spPr>
          <a:xfrm>
            <a:off x="5941314" y="1406616"/>
            <a:ext cx="0" cy="248047"/>
          </a:xfrm>
          <a:prstGeom prst="line">
            <a:avLst/>
          </a:prstGeom>
          <a:ln w="19050">
            <a:solidFill>
              <a:srgbClr val="122D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877724" y="1387100"/>
            <a:ext cx="1606337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 b="1">
                <a:solidFill>
                  <a:srgbClr val="697382"/>
                </a:solidFill>
                <a:latin typeface="Arial"/>
              </a:defRPr>
            </a:pPr>
            <a:r>
              <a:rPr sz="1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AUTHENTICATION</a:t>
            </a:r>
          </a:p>
        </p:txBody>
      </p:sp>
      <p:cxnSp>
        <p:nvCxnSpPr>
          <p:cNvPr id="19" name="Connector 18"/>
          <p:cNvCxnSpPr>
            <a:cxnSpLocks/>
            <a:stCxn id="3" idx="3"/>
          </p:cNvCxnSpPr>
          <p:nvPr/>
        </p:nvCxnSpPr>
        <p:spPr>
          <a:xfrm>
            <a:off x="9235440" y="1033272"/>
            <a:ext cx="896112" cy="0"/>
          </a:xfrm>
          <a:prstGeom prst="line">
            <a:avLst/>
          </a:prstGeom>
          <a:ln w="15240">
            <a:solidFill>
              <a:srgbClr val="2469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02920" y="2761488"/>
            <a:ext cx="9464040" cy="960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F8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694944" y="3195828"/>
            <a:ext cx="1316736" cy="310896"/>
          </a:xfrm>
          <a:prstGeom prst="roundRect">
            <a:avLst/>
          </a:prstGeom>
          <a:solidFill>
            <a:srgbClr val="EF8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  <a:latin typeface="Arial"/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</a:t>
            </a:r>
          </a:p>
        </p:txBody>
      </p:sp>
      <p:cxnSp>
        <p:nvCxnSpPr>
          <p:cNvPr id="24" name="Connector 23"/>
          <p:cNvCxnSpPr>
            <a:cxnSpLocks/>
            <a:stCxn id="23" idx="3"/>
            <a:endCxn id="26" idx="1"/>
          </p:cNvCxnSpPr>
          <p:nvPr/>
        </p:nvCxnSpPr>
        <p:spPr>
          <a:xfrm>
            <a:off x="2011680" y="3351276"/>
            <a:ext cx="283462" cy="0"/>
          </a:xfrm>
          <a:prstGeom prst="line">
            <a:avLst/>
          </a:prstGeom>
          <a:ln w="15240">
            <a:solidFill>
              <a:srgbClr val="122D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2295142" y="3195828"/>
            <a:ext cx="1316736" cy="310896"/>
          </a:xfrm>
          <a:prstGeom prst="roundRect">
            <a:avLst/>
          </a:prstGeom>
          <a:solidFill>
            <a:srgbClr val="EF8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  <a:latin typeface="Arial"/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UNIT TEST</a:t>
            </a:r>
          </a:p>
        </p:txBody>
      </p:sp>
      <p:cxnSp>
        <p:nvCxnSpPr>
          <p:cNvPr id="27" name="Connector 26"/>
          <p:cNvCxnSpPr>
            <a:cxnSpLocks/>
            <a:stCxn id="26" idx="3"/>
            <a:endCxn id="29" idx="1"/>
          </p:cNvCxnSpPr>
          <p:nvPr/>
        </p:nvCxnSpPr>
        <p:spPr>
          <a:xfrm flipV="1">
            <a:off x="3611878" y="3349588"/>
            <a:ext cx="225554" cy="1688"/>
          </a:xfrm>
          <a:prstGeom prst="line">
            <a:avLst/>
          </a:prstGeom>
          <a:ln w="15240">
            <a:solidFill>
              <a:srgbClr val="122D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3837432" y="3194140"/>
            <a:ext cx="1316736" cy="310896"/>
          </a:xfrm>
          <a:prstGeom prst="roundRect">
            <a:avLst/>
          </a:prstGeom>
          <a:solidFill>
            <a:srgbClr val="EF8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  <a:latin typeface="Arial"/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SAST</a:t>
            </a:r>
          </a:p>
        </p:txBody>
      </p:sp>
      <p:cxnSp>
        <p:nvCxnSpPr>
          <p:cNvPr id="30" name="Connector 29"/>
          <p:cNvCxnSpPr>
            <a:cxnSpLocks/>
            <a:stCxn id="29" idx="3"/>
            <a:endCxn id="32" idx="1"/>
          </p:cNvCxnSpPr>
          <p:nvPr/>
        </p:nvCxnSpPr>
        <p:spPr>
          <a:xfrm flipV="1">
            <a:off x="5154168" y="3346622"/>
            <a:ext cx="245361" cy="2966"/>
          </a:xfrm>
          <a:prstGeom prst="line">
            <a:avLst/>
          </a:prstGeom>
          <a:ln w="15240">
            <a:solidFill>
              <a:srgbClr val="122D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5399529" y="3191174"/>
            <a:ext cx="1316736" cy="310896"/>
          </a:xfrm>
          <a:prstGeom prst="roundRect">
            <a:avLst/>
          </a:prstGeom>
          <a:solidFill>
            <a:srgbClr val="EF8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  <a:latin typeface="Arial"/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</a:t>
            </a:r>
          </a:p>
        </p:txBody>
      </p:sp>
      <p:cxnSp>
        <p:nvCxnSpPr>
          <p:cNvPr id="33" name="Connector 32"/>
          <p:cNvCxnSpPr>
            <a:cxnSpLocks/>
            <a:stCxn id="32" idx="3"/>
            <a:endCxn id="35" idx="1"/>
          </p:cNvCxnSpPr>
          <p:nvPr/>
        </p:nvCxnSpPr>
        <p:spPr>
          <a:xfrm flipV="1">
            <a:off x="6716265" y="3343574"/>
            <a:ext cx="219459" cy="3048"/>
          </a:xfrm>
          <a:prstGeom prst="line">
            <a:avLst/>
          </a:prstGeom>
          <a:ln w="15240">
            <a:solidFill>
              <a:srgbClr val="122D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6935724" y="3188126"/>
            <a:ext cx="1316736" cy="310896"/>
          </a:xfrm>
          <a:prstGeom prst="roundRect">
            <a:avLst/>
          </a:prstGeom>
          <a:solidFill>
            <a:srgbClr val="EF8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  <a:latin typeface="Arial"/>
              </a:defRPr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SECRET SCAN</a:t>
            </a:r>
          </a:p>
        </p:txBody>
      </p:sp>
      <p:cxnSp>
        <p:nvCxnSpPr>
          <p:cNvPr id="36" name="Connector 35"/>
          <p:cNvCxnSpPr>
            <a:cxnSpLocks/>
            <a:stCxn id="35" idx="3"/>
            <a:endCxn id="38" idx="1"/>
          </p:cNvCxnSpPr>
          <p:nvPr/>
        </p:nvCxnSpPr>
        <p:spPr>
          <a:xfrm>
            <a:off x="8252460" y="3343574"/>
            <a:ext cx="242316" cy="3048"/>
          </a:xfrm>
          <a:prstGeom prst="line">
            <a:avLst/>
          </a:prstGeom>
          <a:ln w="15240">
            <a:solidFill>
              <a:srgbClr val="122D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8494776" y="3191174"/>
            <a:ext cx="1472184" cy="310896"/>
          </a:xfrm>
          <a:prstGeom prst="roundRect">
            <a:avLst/>
          </a:prstGeom>
          <a:solidFill>
            <a:srgbClr val="EF8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  <a:latin typeface="Arial"/>
              </a:defRPr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GATE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5961507" y="2549388"/>
            <a:ext cx="0" cy="201168"/>
          </a:xfrm>
          <a:prstGeom prst="line">
            <a:avLst/>
          </a:prstGeom>
          <a:ln w="19050">
            <a:solidFill>
              <a:srgbClr val="122D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10902315" y="2587752"/>
            <a:ext cx="0" cy="201168"/>
          </a:xfrm>
          <a:prstGeom prst="line">
            <a:avLst/>
          </a:prstGeom>
          <a:ln w="19050">
            <a:solidFill>
              <a:srgbClr val="122D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10131552" y="2761488"/>
            <a:ext cx="1508760" cy="9601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E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10140696" y="2771943"/>
            <a:ext cx="1490472" cy="363139"/>
          </a:xfrm>
          <a:prstGeom prst="roundRect">
            <a:avLst/>
          </a:prstGeom>
          <a:solidFill>
            <a:srgbClr val="BE2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GATE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222992" y="3145536"/>
            <a:ext cx="1325880" cy="5212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0"/>
              </a:spcAft>
              <a:defRPr sz="800">
                <a:solidFill>
                  <a:srgbClr val="232D3C"/>
                </a:solidFill>
                <a:latin typeface="Arial"/>
              </a:defRPr>
            </a:pPr>
            <a:r>
              <a:t>PASS → Continue</a:t>
            </a:r>
          </a:p>
          <a:p>
            <a:pPr>
              <a:spcAft>
                <a:spcPts val="150"/>
              </a:spcAft>
              <a:defRPr sz="800">
                <a:solidFill>
                  <a:srgbClr val="232D3C"/>
                </a:solidFill>
                <a:latin typeface="Arial"/>
              </a:defRPr>
            </a:pPr>
            <a:r>
              <a:t>FAIL → Stop &amp; Fix</a:t>
            </a:r>
          </a:p>
          <a:p>
            <a:pPr>
              <a:spcAft>
                <a:spcPts val="150"/>
              </a:spcAft>
              <a:defRPr sz="800">
                <a:solidFill>
                  <a:srgbClr val="232D3C"/>
                </a:solidFill>
                <a:latin typeface="Arial"/>
              </a:defRPr>
            </a:pPr>
            <a:r>
              <a:t>Re-run pipeline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9966960" y="3310128"/>
            <a:ext cx="164592" cy="0"/>
          </a:xfrm>
          <a:prstGeom prst="line">
            <a:avLst/>
          </a:prstGeom>
          <a:ln w="19050">
            <a:solidFill>
              <a:srgbClr val="122D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387096" y="4005072"/>
            <a:ext cx="2904744" cy="10972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496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ounded Rectangle 45"/>
          <p:cNvSpPr/>
          <p:nvPr/>
        </p:nvSpPr>
        <p:spPr>
          <a:xfrm>
            <a:off x="387350" y="4005072"/>
            <a:ext cx="2904490" cy="310896"/>
          </a:xfrm>
          <a:prstGeom prst="roundRect">
            <a:avLst/>
          </a:prstGeom>
          <a:solidFill>
            <a:srgbClr val="1496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ARTIFACT REGISTRY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9291" y="4206008"/>
            <a:ext cx="2606039" cy="96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0"/>
              </a:spcAft>
              <a:defRPr sz="850">
                <a:solidFill>
                  <a:srgbClr val="232D3C"/>
                </a:solidFill>
                <a:latin typeface="Arial"/>
              </a:defRPr>
            </a:pPr>
            <a:r>
              <a:rPr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Container Image</a:t>
            </a:r>
          </a:p>
          <a:p>
            <a:pPr>
              <a:spcAft>
                <a:spcPts val="150"/>
              </a:spcAft>
              <a:defRPr sz="850">
                <a:solidFill>
                  <a:srgbClr val="232D3C"/>
                </a:solidFill>
                <a:latin typeface="Arial"/>
              </a:defRPr>
            </a:pPr>
            <a:r>
              <a:rPr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SBOM</a:t>
            </a:r>
          </a:p>
          <a:p>
            <a:pPr>
              <a:spcAft>
                <a:spcPts val="150"/>
              </a:spcAft>
              <a:defRPr sz="850">
                <a:solidFill>
                  <a:srgbClr val="232D3C"/>
                </a:solidFill>
                <a:latin typeface="Arial"/>
              </a:defRPr>
            </a:pPr>
            <a:r>
              <a:rPr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Signing</a:t>
            </a:r>
          </a:p>
          <a:p>
            <a:pPr>
              <a:spcAft>
                <a:spcPts val="150"/>
              </a:spcAft>
              <a:defRPr sz="850">
                <a:solidFill>
                  <a:srgbClr val="232D3C"/>
                </a:solidFill>
                <a:latin typeface="Arial"/>
              </a:defRPr>
            </a:pPr>
            <a:r>
              <a:rPr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Vulnerability Scan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657600" y="4005072"/>
            <a:ext cx="3154680" cy="10972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F4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3657600" y="3968496"/>
            <a:ext cx="3154679" cy="310896"/>
          </a:xfrm>
          <a:prstGeom prst="roundRect">
            <a:avLst/>
          </a:prstGeom>
          <a:solidFill>
            <a:srgbClr val="6F46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GITOPS CONTROLLER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734563" y="4181381"/>
            <a:ext cx="2971800" cy="9879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0"/>
              </a:spcAft>
              <a:defRPr sz="830">
                <a:solidFill>
                  <a:srgbClr val="232D3C"/>
                </a:solidFill>
                <a:latin typeface="Arial"/>
              </a:defRPr>
            </a:pPr>
            <a:r>
              <a:rPr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Argo CD / Flux</a:t>
            </a:r>
          </a:p>
          <a:p>
            <a:pPr>
              <a:spcAft>
                <a:spcPts val="150"/>
              </a:spcAft>
              <a:defRPr sz="830">
                <a:solidFill>
                  <a:srgbClr val="232D3C"/>
                </a:solidFill>
                <a:latin typeface="Arial"/>
              </a:defRPr>
            </a:pPr>
            <a:r>
              <a:rPr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Desired State from Git</a:t>
            </a:r>
          </a:p>
          <a:p>
            <a:pPr>
              <a:spcAft>
                <a:spcPts val="150"/>
              </a:spcAft>
              <a:defRPr sz="830">
                <a:solidFill>
                  <a:srgbClr val="232D3C"/>
                </a:solidFill>
                <a:latin typeface="Arial"/>
              </a:defRPr>
            </a:pPr>
            <a:r>
              <a:rPr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Synchronization</a:t>
            </a:r>
          </a:p>
          <a:p>
            <a:pPr>
              <a:spcAft>
                <a:spcPts val="150"/>
              </a:spcAft>
              <a:defRPr sz="830">
                <a:solidFill>
                  <a:srgbClr val="232D3C"/>
                </a:solidFill>
                <a:latin typeface="Arial"/>
              </a:defRPr>
            </a:pPr>
            <a:r>
              <a:rPr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Continuous Reconciliation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459980" y="3991274"/>
            <a:ext cx="4434840" cy="10972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46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ounded Rectangle 51"/>
          <p:cNvSpPr/>
          <p:nvPr/>
        </p:nvSpPr>
        <p:spPr>
          <a:xfrm>
            <a:off x="7459980" y="3979885"/>
            <a:ext cx="4434840" cy="310896"/>
          </a:xfrm>
          <a:prstGeom prst="roundRect">
            <a:avLst/>
          </a:prstGeom>
          <a:solidFill>
            <a:srgbClr val="246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KUBERNETES CLUSTER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214616" y="4350737"/>
            <a:ext cx="4398264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50"/>
              </a:spcAft>
              <a:defRPr sz="850">
                <a:solidFill>
                  <a:srgbClr val="232D3C"/>
                </a:solidFill>
                <a:latin typeface="Arial"/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RBAC  |  Network Policies  |  Secrets Management</a:t>
            </a:r>
          </a:p>
        </p:txBody>
      </p:sp>
      <p:cxnSp>
        <p:nvCxnSpPr>
          <p:cNvPr id="54" name="Connector 53"/>
          <p:cNvCxnSpPr>
            <a:cxnSpLocks/>
          </p:cNvCxnSpPr>
          <p:nvPr/>
        </p:nvCxnSpPr>
        <p:spPr>
          <a:xfrm>
            <a:off x="5715000" y="3721608"/>
            <a:ext cx="0" cy="278892"/>
          </a:xfrm>
          <a:prstGeom prst="line">
            <a:avLst/>
          </a:prstGeom>
          <a:ln w="19050">
            <a:solidFill>
              <a:srgbClr val="6F46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5651367" y="3728073"/>
            <a:ext cx="1563249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 b="1">
                <a:solidFill>
                  <a:srgbClr val="697382"/>
                </a:solidFill>
                <a:latin typeface="Arial"/>
              </a:defRPr>
            </a:pPr>
            <a:r>
              <a:rPr sz="1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APPROVED BUILD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3291840" y="4553712"/>
            <a:ext cx="365760" cy="0"/>
          </a:xfrm>
          <a:prstGeom prst="line">
            <a:avLst/>
          </a:prstGeom>
          <a:ln w="19050">
            <a:solidFill>
              <a:srgbClr val="1496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3210865" y="4311314"/>
            <a:ext cx="527709" cy="20005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 b="1">
                <a:solidFill>
                  <a:srgbClr val="1496AF"/>
                </a:solidFill>
                <a:latin typeface="Arial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SIGNED</a:t>
            </a:r>
          </a:p>
        </p:txBody>
      </p:sp>
      <p:cxnSp>
        <p:nvCxnSpPr>
          <p:cNvPr id="58" name="Connector 57"/>
          <p:cNvCxnSpPr>
            <a:cxnSpLocks/>
          </p:cNvCxnSpPr>
          <p:nvPr/>
        </p:nvCxnSpPr>
        <p:spPr>
          <a:xfrm>
            <a:off x="6812280" y="4553712"/>
            <a:ext cx="647700" cy="0"/>
          </a:xfrm>
          <a:prstGeom prst="line">
            <a:avLst/>
          </a:prstGeom>
          <a:ln w="19050">
            <a:solidFill>
              <a:srgbClr val="6F46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6731211" y="4350737"/>
            <a:ext cx="809837" cy="20005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 b="1">
                <a:solidFill>
                  <a:srgbClr val="6F46CD"/>
                </a:solidFill>
                <a:latin typeface="Arial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SYNC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7594092" y="4672978"/>
            <a:ext cx="1106424" cy="310896"/>
          </a:xfrm>
          <a:prstGeom prst="roundRect">
            <a:avLst/>
          </a:prstGeom>
          <a:solidFill>
            <a:srgbClr val="189B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50" b="1">
                <a:solidFill>
                  <a:srgbClr val="FFFFFF"/>
                </a:solidFill>
                <a:latin typeface="Arial"/>
              </a:defRPr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9113138" y="4676802"/>
            <a:ext cx="1106424" cy="310896"/>
          </a:xfrm>
          <a:prstGeom prst="roundRect">
            <a:avLst/>
          </a:prstGeom>
          <a:solidFill>
            <a:srgbClr val="EF8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50" b="1">
                <a:solidFill>
                  <a:srgbClr val="FFFFFF"/>
                </a:solidFill>
                <a:latin typeface="Arial"/>
              </a:defRPr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STAGING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10698480" y="4669903"/>
            <a:ext cx="1106424" cy="310896"/>
          </a:xfrm>
          <a:prstGeom prst="roundRect">
            <a:avLst/>
          </a:prstGeom>
          <a:solidFill>
            <a:srgbClr val="BE2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50" b="1">
                <a:solidFill>
                  <a:srgbClr val="FFFFFF"/>
                </a:solidFill>
                <a:latin typeface="Arial"/>
              </a:defRPr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</a:t>
            </a:r>
          </a:p>
        </p:txBody>
      </p:sp>
      <p:cxnSp>
        <p:nvCxnSpPr>
          <p:cNvPr id="66" name="Connector 65"/>
          <p:cNvCxnSpPr>
            <a:cxnSpLocks/>
          </p:cNvCxnSpPr>
          <p:nvPr/>
        </p:nvCxnSpPr>
        <p:spPr>
          <a:xfrm>
            <a:off x="8747951" y="4825351"/>
            <a:ext cx="296037" cy="0"/>
          </a:xfrm>
          <a:prstGeom prst="line">
            <a:avLst/>
          </a:prstGeom>
          <a:ln w="12700">
            <a:solidFill>
              <a:srgbClr val="697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>
            <a:cxnSpLocks/>
          </p:cNvCxnSpPr>
          <p:nvPr/>
        </p:nvCxnSpPr>
        <p:spPr>
          <a:xfrm>
            <a:off x="10296525" y="4823637"/>
            <a:ext cx="323850" cy="0"/>
          </a:xfrm>
          <a:prstGeom prst="line">
            <a:avLst/>
          </a:prstGeom>
          <a:ln w="12700">
            <a:solidFill>
              <a:srgbClr val="697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Rounded Rectangle 67"/>
          <p:cNvSpPr/>
          <p:nvPr/>
        </p:nvSpPr>
        <p:spPr>
          <a:xfrm>
            <a:off x="3611878" y="5669280"/>
            <a:ext cx="6263640" cy="8686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32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ounded Rectangle 68"/>
          <p:cNvSpPr/>
          <p:nvPr/>
        </p:nvSpPr>
        <p:spPr>
          <a:xfrm>
            <a:off x="3613910" y="5662558"/>
            <a:ext cx="6284469" cy="310896"/>
          </a:xfrm>
          <a:prstGeom prst="roundRect">
            <a:avLst/>
          </a:prstGeom>
          <a:solidFill>
            <a:srgbClr val="23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OBSERVABILITY &amp; AUDIT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657601" y="6099872"/>
            <a:ext cx="6217917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50"/>
              </a:spcAft>
              <a:defRPr sz="900">
                <a:solidFill>
                  <a:srgbClr val="232D3C"/>
                </a:solidFill>
                <a:latin typeface="Arial"/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LOGS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|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METRICS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|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ALERTS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|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AUDIT TRAI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 |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SIEM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|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</a:t>
            </a:r>
          </a:p>
        </p:txBody>
      </p:sp>
      <p:cxnSp>
        <p:nvCxnSpPr>
          <p:cNvPr id="71" name="Connector 70"/>
          <p:cNvCxnSpPr>
            <a:cxnSpLocks/>
          </p:cNvCxnSpPr>
          <p:nvPr/>
        </p:nvCxnSpPr>
        <p:spPr>
          <a:xfrm>
            <a:off x="9634854" y="5120641"/>
            <a:ext cx="0" cy="567376"/>
          </a:xfrm>
          <a:prstGeom prst="line">
            <a:avLst/>
          </a:prstGeom>
          <a:ln w="19050">
            <a:solidFill>
              <a:srgbClr val="232D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8590788" y="5275025"/>
            <a:ext cx="1002198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 b="1">
                <a:solidFill>
                  <a:srgbClr val="232D3C"/>
                </a:solidFill>
                <a:latin typeface="Arial"/>
              </a:defRPr>
            </a:pPr>
            <a:r>
              <a:rPr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TELEMETRY</a:t>
            </a:r>
          </a:p>
        </p:txBody>
      </p:sp>
      <p:cxnSp>
        <p:nvCxnSpPr>
          <p:cNvPr id="73" name="Connector 72"/>
          <p:cNvCxnSpPr>
            <a:cxnSpLocks/>
          </p:cNvCxnSpPr>
          <p:nvPr/>
        </p:nvCxnSpPr>
        <p:spPr>
          <a:xfrm flipH="1" flipV="1">
            <a:off x="1792338" y="6166357"/>
            <a:ext cx="1819540" cy="3048"/>
          </a:xfrm>
          <a:prstGeom prst="line">
            <a:avLst/>
          </a:prstGeom>
          <a:ln w="19050">
            <a:solidFill>
              <a:srgbClr val="6F46CD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>
            <a:cxnSpLocks/>
          </p:cNvCxnSpPr>
          <p:nvPr/>
        </p:nvCxnSpPr>
        <p:spPr>
          <a:xfrm flipV="1">
            <a:off x="1794370" y="5120641"/>
            <a:ext cx="0" cy="1054607"/>
          </a:xfrm>
          <a:prstGeom prst="line">
            <a:avLst/>
          </a:prstGeom>
          <a:ln w="19050">
            <a:solidFill>
              <a:srgbClr val="232D3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TextBox 75"/>
          <p:cNvSpPr txBox="1"/>
          <p:nvPr/>
        </p:nvSpPr>
        <p:spPr>
          <a:xfrm>
            <a:off x="1750679" y="5907795"/>
            <a:ext cx="1648208" cy="26161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none">
            <a:spAutoFit/>
          </a:bodyPr>
          <a:lstStyle/>
          <a:p>
            <a:pPr algn="ctr">
              <a:defRPr sz="750" b="1">
                <a:solidFill>
                  <a:srgbClr val="6F46CD"/>
                </a:solidFill>
                <a:latin typeface="Arial"/>
              </a:defRPr>
            </a:pPr>
            <a:r>
              <a:rPr sz="1100" dirty="0">
                <a:solidFill>
                  <a:srgbClr val="232D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FEEDBACK / EVENTS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10264139" y="5675825"/>
            <a:ext cx="1783080" cy="8686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46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Rounded Rectangle 77"/>
          <p:cNvSpPr/>
          <p:nvPr/>
        </p:nvSpPr>
        <p:spPr>
          <a:xfrm>
            <a:off x="10264139" y="5669280"/>
            <a:ext cx="1783080" cy="310896"/>
          </a:xfrm>
          <a:prstGeom prst="roundRect">
            <a:avLst/>
          </a:prstGeom>
          <a:solidFill>
            <a:srgbClr val="246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  <a:latin typeface="Arial"/>
              </a:defRPr>
            </a:pP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&amp; GOVERNANCE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355579" y="6064850"/>
            <a:ext cx="1600200" cy="3949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0"/>
              </a:spcAft>
              <a:defRPr sz="720">
                <a:solidFill>
                  <a:srgbClr val="232D3C"/>
                </a:solidFill>
                <a:latin typeface="Arial"/>
              </a:defRPr>
            </a:pPr>
            <a:r>
              <a:rPr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Least Privilege </a:t>
            </a:r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</a:t>
            </a:r>
            <a:r>
              <a:rPr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Auditability</a:t>
            </a:r>
          </a:p>
          <a:p>
            <a:pPr>
              <a:spcAft>
                <a:spcPts val="150"/>
              </a:spcAft>
              <a:defRPr sz="720">
                <a:solidFill>
                  <a:srgbClr val="232D3C"/>
                </a:solidFill>
                <a:latin typeface="Arial"/>
              </a:defRPr>
            </a:pPr>
            <a:r>
              <a:rPr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Policy as Code </a:t>
            </a:r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</a:t>
            </a:r>
            <a:r>
              <a:rPr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Compliance</a:t>
            </a:r>
          </a:p>
        </p:txBody>
      </p:sp>
      <p:cxnSp>
        <p:nvCxnSpPr>
          <p:cNvPr id="85" name="Connector 18">
            <a:extLst>
              <a:ext uri="{FF2B5EF4-FFF2-40B4-BE49-F238E27FC236}">
                <a16:creationId xmlns:a16="http://schemas.microsoft.com/office/drawing/2014/main" id="{B7C6680B-C5D1-47A7-C366-616CD0EF4EC4}"/>
              </a:ext>
            </a:extLst>
          </p:cNvPr>
          <p:cNvCxnSpPr>
            <a:cxnSpLocks/>
          </p:cNvCxnSpPr>
          <p:nvPr/>
        </p:nvCxnSpPr>
        <p:spPr>
          <a:xfrm>
            <a:off x="10131552" y="1033272"/>
            <a:ext cx="0" cy="574476"/>
          </a:xfrm>
          <a:prstGeom prst="line">
            <a:avLst/>
          </a:prstGeom>
          <a:ln w="15240">
            <a:solidFill>
              <a:srgbClr val="2469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18">
            <a:extLst>
              <a:ext uri="{FF2B5EF4-FFF2-40B4-BE49-F238E27FC236}">
                <a16:creationId xmlns:a16="http://schemas.microsoft.com/office/drawing/2014/main" id="{58DCA289-F316-34A7-7F01-A83081A3D184}"/>
              </a:ext>
            </a:extLst>
          </p:cNvPr>
          <p:cNvCxnSpPr>
            <a:cxnSpLocks/>
          </p:cNvCxnSpPr>
          <p:nvPr/>
        </p:nvCxnSpPr>
        <p:spPr>
          <a:xfrm>
            <a:off x="2076450" y="1010427"/>
            <a:ext cx="0" cy="574476"/>
          </a:xfrm>
          <a:prstGeom prst="line">
            <a:avLst/>
          </a:prstGeom>
          <a:ln w="15240">
            <a:solidFill>
              <a:srgbClr val="2469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18">
            <a:extLst>
              <a:ext uri="{FF2B5EF4-FFF2-40B4-BE49-F238E27FC236}">
                <a16:creationId xmlns:a16="http://schemas.microsoft.com/office/drawing/2014/main" id="{5302668E-8E3E-43C1-A0A0-66E9D7C56C09}"/>
              </a:ext>
            </a:extLst>
          </p:cNvPr>
          <p:cNvCxnSpPr>
            <a:cxnSpLocks/>
          </p:cNvCxnSpPr>
          <p:nvPr/>
        </p:nvCxnSpPr>
        <p:spPr>
          <a:xfrm>
            <a:off x="2076450" y="1033272"/>
            <a:ext cx="896112" cy="0"/>
          </a:xfrm>
          <a:prstGeom prst="line">
            <a:avLst/>
          </a:prstGeom>
          <a:ln w="15240">
            <a:solidFill>
              <a:srgbClr val="2469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Rounded Rectangle 9">
            <a:extLst>
              <a:ext uri="{FF2B5EF4-FFF2-40B4-BE49-F238E27FC236}">
                <a16:creationId xmlns:a16="http://schemas.microsoft.com/office/drawing/2014/main" id="{ED38BDEE-626B-6A5C-48A6-49426131B305}"/>
              </a:ext>
            </a:extLst>
          </p:cNvPr>
          <p:cNvSpPr/>
          <p:nvPr/>
        </p:nvSpPr>
        <p:spPr>
          <a:xfrm>
            <a:off x="512063" y="2774959"/>
            <a:ext cx="9464040" cy="283627"/>
          </a:xfrm>
          <a:prstGeom prst="roundRect">
            <a:avLst/>
          </a:prstGeom>
          <a:solidFill>
            <a:srgbClr val="EF8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F8414"/>
                </a:solidFill>
                <a:latin typeface="Arial"/>
              </a:defRPr>
            </a:pPr>
            <a:r>
              <a:rPr lang="en-I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 SECURITY PIPELINE</a:t>
            </a:r>
          </a:p>
        </p:txBody>
      </p:sp>
      <p:cxnSp>
        <p:nvCxnSpPr>
          <p:cNvPr id="132" name="Connector 43">
            <a:extLst>
              <a:ext uri="{FF2B5EF4-FFF2-40B4-BE49-F238E27FC236}">
                <a16:creationId xmlns:a16="http://schemas.microsoft.com/office/drawing/2014/main" id="{EB1A949D-491C-EC97-6E3C-8666BA51D6DF}"/>
              </a:ext>
            </a:extLst>
          </p:cNvPr>
          <p:cNvCxnSpPr>
            <a:cxnSpLocks/>
          </p:cNvCxnSpPr>
          <p:nvPr/>
        </p:nvCxnSpPr>
        <p:spPr>
          <a:xfrm>
            <a:off x="9201912" y="3728073"/>
            <a:ext cx="6471" cy="251812"/>
          </a:xfrm>
          <a:prstGeom prst="line">
            <a:avLst/>
          </a:prstGeom>
          <a:ln w="19050">
            <a:solidFill>
              <a:srgbClr val="122D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73">
            <a:extLst>
              <a:ext uri="{FF2B5EF4-FFF2-40B4-BE49-F238E27FC236}">
                <a16:creationId xmlns:a16="http://schemas.microsoft.com/office/drawing/2014/main" id="{9F546560-931A-AFB9-0CC4-D73176A8AEF7}"/>
              </a:ext>
            </a:extLst>
          </p:cNvPr>
          <p:cNvCxnSpPr>
            <a:cxnSpLocks/>
          </p:cNvCxnSpPr>
          <p:nvPr/>
        </p:nvCxnSpPr>
        <p:spPr>
          <a:xfrm flipV="1">
            <a:off x="5154168" y="5120641"/>
            <a:ext cx="0" cy="527303"/>
          </a:xfrm>
          <a:prstGeom prst="line">
            <a:avLst/>
          </a:prstGeom>
          <a:ln w="19050">
            <a:solidFill>
              <a:srgbClr val="232D3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168</Words>
  <Application>Microsoft Office PowerPoint</Application>
  <PresentationFormat>Widescreen</PresentationFormat>
  <Paragraphs>50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Times New Roman</vt:lpstr>
      <vt:lpstr>Office Theme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MOGO</dc:creator>
  <cp:keywords/>
  <dc:description>generated using python-pptx</dc:description>
  <cp:lastModifiedBy>shaik basheer</cp:lastModifiedBy>
  <cp:revision>4</cp:revision>
  <dcterms:created xsi:type="dcterms:W3CDTF">2013-01-27T09:14:16Z</dcterms:created>
  <dcterms:modified xsi:type="dcterms:W3CDTF">2026-08-23T11:22:20Z</dcterms:modified>
  <cp:category/>
</cp:coreProperties>
</file>